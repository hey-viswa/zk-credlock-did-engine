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Pillai HOC College of Engineering and Technology, Rasayani</a:t>
            </a:r>
          </a:p>
          <a:p>
            <a:pPr algn="ctr">
              <a:defRPr sz="1500">
                <a:solidFill>
                  <a:srgbClr val="64748B"/>
                </a:solidFill>
              </a:defRPr>
            </a:pPr>
            <a:r>
              <a:t>(Autonomous) | University of Mumbai | A.Y. 2026–27</a:t>
            </a:r>
          </a:p>
          <a:p>
            <a:pPr algn="ctr">
              <a:defRPr sz="1400" b="1">
                <a:solidFill>
                  <a:srgbClr val="0E7490"/>
                </a:solidFill>
              </a:defRPr>
            </a:pPr>
            <a:r>
              <a:t>DEPARTMENT OF 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6705295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</a:defRPr>
            </a:pPr>
            <a:r>
              <a:t>MINI PROJECT 2A (BLOCKCHAIN TECHNOLOGY)</a:t>
            </a:r>
          </a:p>
          <a:p>
            <a:pPr algn="ctr">
              <a:defRPr sz="2400" b="1">
                <a:solidFill>
                  <a:srgbClr val="0F172A"/>
                </a:solidFill>
              </a:defRPr>
            </a:pPr>
            <a:r>
              <a:t>CredLock: Zero-Knowledge Decentralized Identity (DID) &amp; Selective Attribute Proofs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PROJECT TEAM MEMBERS: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1. SUMAN GHOTGALKAR    (BE A 28)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2. BISWARANJAN GIRI        (BE A 29)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3. HARSH GURJAR               (BE A 31)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4. SWARAJ JADHAV             (BE A 36)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PROJECT SUPERVISOR: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t>Mrs. Pallavi Sudhir Marulkar / Dr. Rajashree Gadhave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Department of Computer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1440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1. Introduction &amp; Background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2. Literature Survey &amp; Related Work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3. Limitations of Existing Identity Systems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4. Problem Definition &amp; Objectives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5. Proposed System Architecture (4-Station Pipeline)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6. Implementation &amp; Live Verification Results (Screenshots)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7. Replay Attack Resistance &amp; Security Analysis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8. Conclusion &amp; Future Scope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9.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E7490"/>
                </a:solidFill>
              </a:defRPr>
            </a:pPr>
            <a:r>
              <a:t>CredLock: Privacy-Preserving Zero-Knowledge Decentralized Identity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CredLock is a privacy-first decentralized identity (DID) verification framework built on Ethereum. It resolves the fundamental privacy paradox of electronic identity: how to prove eligibility (e.g., Age ≥ 18, high solvency, or valid university enrollment) without exposing sensitive plaintext documents like Aadhaar cards, birth certificates, or bank statements.</a:t>
            </a:r>
          </a:p>
          <a:p>
            <a:pPr>
              <a:spcAft>
                <a:spcPts val="600"/>
              </a:spcAft>
              <a:defRPr sz="1700" b="1">
                <a:solidFill>
                  <a:srgbClr val="0E7490"/>
                </a:solidFill>
              </a:defRPr>
            </a:pPr>
            <a:r>
              <a:t>Core Cryptographic Pillars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Client-Side Groth16 zk-SNARKs: Generates non-interactive zero-knowledge proofs over the BN254 (alt_bn128) elliptic curve directly in client memory, computing in &lt; 10 ms.</a:t>
            </a:r>
            <a:br/>
            <a:r>
              <a:t>• Algebraic Poseidon Merkle State Tree: Enforces O(log N) membership proof over an enrolled identity tree using field-native x^5 S-boxes (reducing circuit constraints by 98% compared to SHA-256).</a:t>
            </a:r>
            <a:br/>
            <a:r>
              <a:t>• Deterministic Nullifiers: Computes N = Poseidon(sk, scope) to guarantee single-use claiming per domain, completely eliminating replay attacks while preserving cross-domain unlinkability.</a:t>
            </a:r>
            <a:br/>
            <a:r>
              <a:t>• Trustless On-Chain Verification: Evaluates bilinear pairings via EVM Precompile 0x08 on Ethereum, validating proofs in 3.12 ms consuming only 215,380 gas.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560320"/>
                <a:gridCol w="1005840"/>
                <a:gridCol w="3291840"/>
                <a:gridCol w="310896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SR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Paper Title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Decentralized Identity Management Using Blockchain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Implemented W3C Verifiable Credentials on Ethereum with DID documents and ECDSA asymmetric digital signatures.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Requires revealing entire plaintext credential attributes during verification; zero privacy for selective threshold predicates.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zk-SNARKs for Privacy-Preserving Verifiable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Used R1CS constraint circuits on alt_bn128 with Groth16 proof generation and SHA-256 state hashing.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SHA-256 inside circuits creates 25,000+ constraints per hash, causing 15+ second mobile proof latency; lacks anti-replay nullifiers.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Scalable Merkle Trees for Anonymous Blockchain Authentication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Employed binary Merkle trees with Keccak-256 hash functions for on-chain membership verification.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High gas costs for on-chain proof verification (&gt;1.5M gas); vulnerable to linkability attacks across independent service verifiers.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Limitations of Existing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</a:defRPr>
            </a:pPr>
            <a:r>
              <a:t>• Plaintext Over-Disclosure: Users must hand over complete identity documents (Aadhaar cards, passports, physical marksheets) to verify simple boolean facts (e.g., Age ≥ 18), exposing permanent biometrics and personal records.</a:t>
            </a:r>
          </a:p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</a:defRPr>
            </a:pPr>
            <a:r>
              <a:t>• Centralized Surveillance &amp; Tracking: Centralized identity providers (OAuth, SAML, Google/Facebook login) log every authentication challenge, building exhaustive surveillance graphs of citizens' activity across platforms.</a:t>
            </a:r>
          </a:p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</a:defRPr>
            </a:pPr>
            <a:r>
              <a:t>• Inefficient Hash Circuits (Constraint Explosion): Traditional hash functions (SHA-256, Keccak-256) operate on bitwise boolean operations, requiring ~25,000 R1CS constraints per compression and making edge client proving impractically slow.</a:t>
            </a:r>
          </a:p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</a:defRPr>
            </a:pPr>
            <a:r>
              <a:t>• Vulnerability to Replay &amp; Double-Spending Attacks: Standard anonymous credentials lack stateful single-use tracking, allowing malicious users to replay a valid proof infinitely across subsidies, token airdrops, and voting systems.</a:t>
            </a:r>
          </a:p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</a:defRPr>
            </a:pPr>
            <a:r>
              <a:t>• Prohibitive On-Chain Gas Verification Costs: Unoptimized pairing checks without cryptographic precompiles cost millions of Ethereum gas units, making decentralized identity verification economically infeasible.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Definition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</a:defRPr>
            </a:pPr>
            <a:r>
              <a:t>• Eliminate Plaintext Credential Over-Disclosure: Design an edge-computed zero-knowledge protocol where private attributes (Age, CGPA, income) remain isolated in client memory and never touch the network.</a:t>
            </a:r>
          </a:p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</a:defRPr>
            </a:pPr>
            <a:r>
              <a:t>• Implement 16-Bit Binary Range Decomposition: Engineer R1CS arithmetic circuits proving inequality constraints (x ≥ T) via boolean bit decomposition without finite field underflow wraparound.</a:t>
            </a:r>
          </a:p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</a:defRPr>
            </a:pPr>
            <a:r>
              <a:t>• Minimize Constraint Complexity with Poseidon Hashing: Deploy algebraic field-native Poseidon hashing (x^5 S-boxes) to achieve O(log N) Merkle tree membership with 98% fewer constraints than SHA-256.</a:t>
            </a:r>
          </a:p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</a:defRPr>
            </a:pPr>
            <a:r>
              <a:t>• Engineer Replay-Defense Deterministic Nullifiers: Formulate unforgeable domain-scoped nullifiers N = Poseidon(sk, scope) that permanently prevent double-claiming while preventing cross-verifier linkability.</a:t>
            </a:r>
          </a:p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</a:defRPr>
            </a:pPr>
            <a:r>
              <a:t>• Trustless EVM Pairing Verification: Verify client proofs on Ethereum via Precompile 0x08 ecPairing in under 4 ms with a locked gas budget of ~215,380 gas.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Architecture: 4-Station Synchronized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pic>
        <p:nvPicPr>
          <p:cNvPr id="6" name="Picture 5" descr="credlock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286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Implementation: Station 1 (Enclave) &amp; Station 2 (Policy Gate)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  <p:pic>
        <p:nvPicPr>
          <p:cNvPr id="6" name="Picture 5" descr="fig_5_1_1_enclav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251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Step 1: Off-Chain Identity Enclave Selection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Prover selects enrolled identity (Viswa, Leaf #0, Age 23, CGPA 8.92). Private attributes remain in client memory; only commitment C exists in the state tree.</a:t>
            </a:r>
          </a:p>
        </p:txBody>
      </p:sp>
      <p:pic>
        <p:nvPicPr>
          <p:cNvPr id="8" name="Picture 7" descr="fig_5_1_2_policy_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120640" cy="2880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4251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Step 2: Policy Challenge Gate Specification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Verifier establishes predicate requirements (Age Gate: Age ≥ 18). Circuit automatically builds 16-bit range proof constraint Δ = Age - 18 ≥ 0 without exposing raw 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Implementation: Station 3 (Merkle Tree) &amp; Station 4 (EVM Verification)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  <p:pic>
        <p:nvPicPr>
          <p:cNvPr id="6" name="Picture 5" descr="fig_5_1_3_merkle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251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Step 3: 8-Leaf Poseidon Merkle State Membership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O(log N) membership proof over active Merkle Root 0x2903...4ab. Prover computes 3 sibling witness hashes; packet visibly ascends tree to verify membership.</a:t>
            </a:r>
          </a:p>
        </p:txBody>
      </p:sp>
      <p:pic>
        <p:nvPicPr>
          <p:cNvPr id="8" name="Picture 7" descr="fig_5_1_4_zk_synthe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120640" cy="2880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4251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Step 4: Groth16 Synthesis &amp; On-Chain Precompile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Client computes witness and proof π = (π_A, π_B, π_C) in 8.45 ms. EVM smart contract evaluates bilinear pairings via Precompile 0x08 in 3.12 ms consuming 215,380 gas.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Replay Attack Defense: Deterministic Nullifier Rejection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  <p:pic>
        <p:nvPicPr>
          <p:cNvPr id="6" name="Picture 5" descr="fig_5_1_6_replay_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28016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E7490"/>
                </a:solidFill>
              </a:defRPr>
            </a:pPr>
            <a:r>
              <a:t>Anti-Replay Mechanism &amp; Evaluation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1. Nullifier Formulation:</a:t>
            </a:r>
            <a:br/>
            <a:r>
              <a:t>N = Poseidon(sk, Hash(Scope))</a:t>
            </a:r>
            <a:br/>
            <a:r>
              <a:t>Guarantees unique nullifier per user per domain scope.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2. State Persistence:</a:t>
            </a:r>
            <a:br/>
            <a:r>
              <a:t>Upon initial claim verification, the smart contract records N in mapping(bytes32 =&gt; bool) spentNullifiers.</a:t>
            </a:r>
          </a:p>
          <a:p>
            <a:pPr>
              <a:defRPr sz="1300" b="1">
                <a:solidFill>
                  <a:srgbClr val="DC2626"/>
                </a:solidFill>
              </a:defRPr>
            </a:pPr>
            <a:r>
              <a:t>3. Immediate Replay Rejection:</a:t>
            </a:r>
            <a:br/>
            <a:r>
              <a:t>When user clicks 'Test Replay Attack', contract reverts with ERR_NULLIFIER_ALREADY_SPENT (Gas: 35,400) proving stateful non-mock enforcement.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E7490"/>
                </a:solidFill>
              </a:defRPr>
            </a:pPr>
            <a:r>
              <a:t>Project Conclusion</a:t>
            </a:r>
          </a:p>
          <a:p>
            <a:pPr>
              <a:spcAft>
                <a:spcPts val="1400"/>
              </a:spcAft>
              <a:defRPr sz="1450">
                <a:solidFill>
                  <a:srgbClr val="1E293B"/>
                </a:solidFill>
              </a:defRPr>
            </a:pPr>
            <a:r>
              <a:t>CredLock successfully demonstrates a complete, production-grade zero-knowledge decentralized identity framework combining W3C DIDs, Groth16 zk-SNARKs, and Ethereum smart contracts. By offloading proof generation to edge client devices and using Poseidon field-native hashing, the system achieves sub-10 ms proving times. On-chain EVM Precompile 0x08 enables trustless verification in 3.12 ms consuming 215,380 gas, while deterministic nullifiers decisively eliminate replay attacks and cross-domain tracking.</a:t>
            </a:r>
          </a:p>
          <a:p>
            <a:pPr>
              <a:spcAft>
                <a:spcPts val="600"/>
              </a:spcAft>
              <a:defRPr sz="1700" b="1">
                <a:solidFill>
                  <a:srgbClr val="0E7490"/>
                </a:solidFill>
              </a:defRPr>
            </a:pPr>
            <a:r>
              <a:t>Future Enhancements</a:t>
            </a:r>
          </a:p>
          <a:p>
            <a:pPr>
              <a:spcAft>
                <a:spcPts val="1400"/>
              </a:spcAft>
              <a:defRPr sz="1450">
                <a:solidFill>
                  <a:srgbClr val="1E293B"/>
                </a:solidFill>
              </a:defRPr>
            </a:pPr>
            <a:r>
              <a:t>• Recursive Proof Aggregation: Integrate PLONK / Halo2 to batch verify hundreds of user identity proofs into a single constant-time on-chain proof.</a:t>
            </a:r>
            <a:br/>
            <a:r>
              <a:t>• Hardware Secure Enclave: Bind client secret keys directly to Apple Secure Enclave / Android StrongBox for tamper-proof biometric authorization.</a:t>
            </a:r>
            <a:br/>
            <a:r>
              <a:t>• Zero-Knowledge KYC for DeFi: Implement compliant institutional DeFi liquidity pools requiring zero-knowledge accreditation without disclosing investor identity.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[1] J. Groth, 'On the Size of Pairing-Based Non-interactive Arguments,' in Advances in Cryptology – EUROCRYPT 2016, Lecture Notes in Computer Science, vol. 9666, Springer, pp. 305–326, 2016.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[2] L. Grassi, R. Lüftenegger, C. Rechberger, D. Rotaru, and M. Schofnegger, 'On a Generalization of Substitution-Permutation Networks: The HADES Design Strategy and Poseidon Hashing,' IACR Transactions on Symmetric Cryptology, vol. 2020, no. 2, pp. 248–288, 2020.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[3] Vitalik Buterin, Christian Reitwiessner, 'EIP-197: Precompiled contracts for optimal ate pairing check on the alt_bn128 curve,' Ethereum Improvement Proposals, no. 197, 2017.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[4] M. Sporny, D. Longley, M. Chadwick, 'Decentralized Identifiers (DIDs) v1.0: Core architecture, data model, and representations,' W3C Recommendation, 2022. Available: https://www.w3.org/TR/did-core/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[5] E. Ben-Sasson, A. Chiesa, E. Tromer, and M. Virza, 'Succinct Non-Interactive Zero Knowledge for a von Neumann Architecture,' in 23rd USENIX Security Symposium, pp. 781–796, 2014.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[6] Gavin Wood, 'Ethereum: A Secure Decentralised Generalised Transaction Ledger (Yellow Paper),' Ethereum Project Yellow Paper, 2014.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2400">
                <a:solidFill>
                  <a:srgbClr val="0E7490"/>
                </a:solidFill>
                <a:latin typeface="Calibri"/>
              </a:defRPr>
            </a:pPr>
            <a:r>
              <a:t>Questions &amp; Viva Voce Discussion</a:t>
            </a:r>
          </a:p>
          <a:p>
            <a:pPr algn="ctr">
              <a:defRPr sz="1600">
                <a:solidFill>
                  <a:srgbClr val="64748B"/>
                </a:solidFill>
                <a:latin typeface="Calibri"/>
              </a:defRPr>
            </a:pPr>
            <a:r>
              <a:t>Repository: https://github.com/Hey-Viswa/Zk-CredLock-DID-Engine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